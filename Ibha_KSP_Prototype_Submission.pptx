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71" r:id="rId1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730" y="8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79e9db54d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279e9db54d7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79e9db54d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79e9db54d7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79e9db54d7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79e9db54d7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79e9db54d7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79e9db54d7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79e9db54d7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79e9db54d7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79e9db54d7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79e9db54d7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79e9db54d7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79e9db54d7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e3fd15ea4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e3fd15ea4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79e9db54d7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79e9db54d7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79e9db54d7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279e9db54d7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79e9db54d7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279e9db54d7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79e9db54d7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279e9db54d7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ibha-ksp-czmdpiah.onslate.in/" TargetMode="External"/><Relationship Id="rId4" Type="http://schemas.openxmlformats.org/officeDocument/2006/relationships/hyperlink" Target="https://github.com/Bhakti-e/ibha-ksp.git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460650" y="3183225"/>
            <a:ext cx="8222700" cy="178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Team Details</a:t>
            </a:r>
          </a:p>
          <a:p>
            <a:endParaRPr dirty="0"/>
          </a:p>
          <a:p>
            <a:r>
              <a:rPr dirty="0"/>
              <a:t>• Team Name</a:t>
            </a:r>
            <a:r>
              <a:rPr dirty="0" smtClean="0"/>
              <a:t>:</a:t>
            </a:r>
            <a:r>
              <a:rPr lang="en-US" dirty="0" smtClean="0"/>
              <a:t> </a:t>
            </a:r>
            <a:r>
              <a:rPr lang="en-US" dirty="0" err="1" smtClean="0"/>
              <a:t>Avighna</a:t>
            </a:r>
            <a:endParaRPr dirty="0"/>
          </a:p>
          <a:p>
            <a:r>
              <a:rPr dirty="0"/>
              <a:t>• Team Leader Name: </a:t>
            </a:r>
            <a:r>
              <a:rPr lang="en-US" dirty="0" smtClean="0"/>
              <a:t>Bhakti Parulekar</a:t>
            </a:r>
            <a:endParaRPr dirty="0"/>
          </a:p>
          <a:p>
            <a:r>
              <a:rPr dirty="0"/>
              <a:t>• Team Size: 2 Members</a:t>
            </a:r>
          </a:p>
          <a:p>
            <a:endParaRPr dirty="0"/>
          </a:p>
          <a:p>
            <a:r>
              <a:rPr dirty="0"/>
              <a:t>Problem Statement: Intelligent Conversational AI and Crime Analytics Platform for Karnataka State Police (KSP </a:t>
            </a:r>
            <a:r>
              <a:rPr dirty="0" err="1"/>
              <a:t>Datathon</a:t>
            </a:r>
            <a:r>
              <a:rPr dirty="0"/>
              <a:t> 2026)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/>
        </p:nvSpPr>
        <p:spPr>
          <a:xfrm>
            <a:off x="318650" y="697975"/>
            <a:ext cx="851293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sz="1800" b="1" dirty="0"/>
              <a:t>Brief About Solution</a:t>
            </a:r>
            <a:r>
              <a:rPr sz="1800" dirty="0"/>
              <a:t> </a:t>
            </a:r>
            <a:r>
              <a:rPr sz="1800" b="1" dirty="0"/>
              <a:t>— </a:t>
            </a:r>
            <a:r>
              <a:rPr sz="1800" b="1" dirty="0" err="1" smtClean="0"/>
              <a:t>Ibha</a:t>
            </a:r>
            <a:r>
              <a:rPr sz="1800" b="1" dirty="0" smtClean="0"/>
              <a:t> </a:t>
            </a:r>
            <a:r>
              <a:rPr sz="1800" b="1" dirty="0"/>
              <a:t>(</a:t>
            </a:r>
            <a:r>
              <a:rPr sz="1800" b="1" dirty="0" err="1"/>
              <a:t>ಇಭ</a:t>
            </a:r>
            <a:r>
              <a:rPr sz="1800" b="1" dirty="0"/>
              <a:t> · Elephant / Strength</a:t>
            </a:r>
            <a:r>
              <a:rPr sz="1800" b="1" dirty="0" smtClean="0"/>
              <a:t>)</a:t>
            </a:r>
            <a:endParaRPr sz="1800" b="1" dirty="0"/>
          </a:p>
          <a:p>
            <a:r>
              <a:rPr dirty="0" err="1"/>
              <a:t>Ibha</a:t>
            </a:r>
            <a:r>
              <a:rPr dirty="0"/>
              <a:t> is an LLM-Augmented, Security-First Crime Intelligence Copilot built for Karnataka State Police officers across 8 districts and 20 police stations.</a:t>
            </a:r>
          </a:p>
          <a:p>
            <a:r>
              <a:rPr dirty="0"/>
              <a:t/>
            </a:r>
            <a:br>
              <a:rPr dirty="0"/>
            </a:br>
            <a:r>
              <a:rPr sz="1600" b="1" dirty="0"/>
              <a:t>Key Innovations</a:t>
            </a:r>
            <a:r>
              <a:rPr sz="1600" b="1" dirty="0" smtClean="0"/>
              <a:t>:</a:t>
            </a:r>
            <a:endParaRPr lang="en-US" sz="1600" b="1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Natural </a:t>
            </a:r>
            <a:r>
              <a:rPr dirty="0"/>
              <a:t>Language Interface: Supports English and Kannada queries via text or speech (STT/TTS</a:t>
            </a:r>
            <a:r>
              <a:rPr dirty="0" smtClean="0"/>
              <a:t>).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100</a:t>
            </a:r>
            <a:r>
              <a:rPr dirty="0"/>
              <a:t>% Parameterized SQL Guardrail: The LLM extracts intent JSON; query_builder.py constructs safe </a:t>
            </a:r>
            <a:r>
              <a:rPr lang="en-US" dirty="0" smtClean="0"/>
              <a:t>    </a:t>
            </a:r>
            <a:r>
              <a:rPr dirty="0" smtClean="0"/>
              <a:t>SQL</a:t>
            </a:r>
            <a:r>
              <a:rPr dirty="0"/>
              <a:t>. The LLM NEVER writes raw SQL.</a:t>
            </a:r>
            <a:br>
              <a:rPr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Transparent </a:t>
            </a:r>
            <a:r>
              <a:rPr dirty="0"/>
              <a:t>Evidence Trail: Every answer displays redacted SQL parameters, row counts, and RLS jurisdiction badges.</a:t>
            </a:r>
            <a:br>
              <a:rPr dirty="0"/>
            </a:b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Advanced </a:t>
            </a:r>
            <a:r>
              <a:rPr dirty="0"/>
              <a:t>Analytics: Sociological crime insights, multi-factor offender risk scoring, linear trend projections, and precedent case matching.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5"/>
          <p:cNvSpPr txBox="1"/>
          <p:nvPr/>
        </p:nvSpPr>
        <p:spPr>
          <a:xfrm>
            <a:off x="240800" y="7106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sz="1800" b="1" dirty="0"/>
              <a:t>Opportunities &amp; Unique Selling Proposition (USP)</a:t>
            </a:r>
          </a:p>
          <a:p>
            <a:r>
              <a:rPr dirty="0"/>
              <a:t/>
            </a:r>
            <a:br>
              <a:rPr dirty="0"/>
            </a:br>
            <a:r>
              <a:rPr dirty="0"/>
              <a:t>How is it different from existing solutions?</a:t>
            </a:r>
            <a:br>
              <a:rPr dirty="0"/>
            </a:br>
            <a:r>
              <a:rPr dirty="0" smtClean="0"/>
              <a:t>• Most </a:t>
            </a:r>
            <a:r>
              <a:rPr dirty="0"/>
              <a:t>LLM platforms allow the model to generate SQL directly, risking prompt injection and schema hallucinations. </a:t>
            </a:r>
            <a:r>
              <a:rPr dirty="0" err="1"/>
              <a:t>Ibha</a:t>
            </a:r>
            <a:r>
              <a:rPr dirty="0"/>
              <a:t> separates intent extraction from SQL execution completely.</a:t>
            </a:r>
            <a:br>
              <a:rPr dirty="0"/>
            </a:br>
            <a:r>
              <a:rPr dirty="0"/>
              <a:t/>
            </a:r>
            <a:br>
              <a:rPr dirty="0"/>
            </a:br>
            <a:r>
              <a:rPr dirty="0"/>
              <a:t>How will it solve the problem?</a:t>
            </a:r>
            <a:br>
              <a:rPr dirty="0"/>
            </a:br>
            <a:r>
              <a:rPr dirty="0"/>
              <a:t>• Police officers can query complex databases using plain voice/text in their regional language, while security automatically enforces Row-Level Security (RLS) based on jurisdiction.</a:t>
            </a:r>
            <a:br>
              <a:rPr dirty="0"/>
            </a:br>
            <a:r>
              <a:rPr dirty="0"/>
              <a:t/>
            </a:r>
            <a:br>
              <a:rPr dirty="0"/>
            </a:br>
            <a:r>
              <a:rPr sz="1600" b="1" dirty="0"/>
              <a:t>USP of </a:t>
            </a:r>
            <a:r>
              <a:rPr sz="1600" b="1" dirty="0" err="1"/>
              <a:t>Ibha</a:t>
            </a:r>
            <a:r>
              <a:rPr sz="1600" b="1" dirty="0"/>
              <a:t>:</a:t>
            </a:r>
            <a:r>
              <a:rPr dirty="0"/>
              <a:t/>
            </a:r>
            <a:br>
              <a:rPr dirty="0"/>
            </a:br>
            <a:r>
              <a:rPr dirty="0"/>
              <a:t>• Zero-Trust Evidence Trail &amp; Audit Panel on every message.</a:t>
            </a:r>
            <a:br>
              <a:rPr dirty="0"/>
            </a:br>
            <a:r>
              <a:rPr dirty="0"/>
              <a:t>• Data-grounded criminology summaries with zero identity or ethnic proxy bias.</a:t>
            </a:r>
            <a:br>
              <a:rPr dirty="0"/>
            </a:br>
            <a:r>
              <a:rPr dirty="0"/>
              <a:t>• Multi-factor risk score heuristic (capped priors, </a:t>
            </a:r>
            <a:r>
              <a:rPr dirty="0" err="1"/>
              <a:t>recency</a:t>
            </a:r>
            <a:r>
              <a:rPr dirty="0"/>
              <a:t> decay, violent flag, degree centrality).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6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sz="1800" b="1" dirty="0"/>
              <a:t>List of Features Offered (Mapped to KSP's 10 Pillars)</a:t>
            </a:r>
          </a:p>
          <a:p>
            <a:r>
              <a:rPr dirty="0"/>
              <a:t/>
            </a:r>
            <a:br>
              <a:rPr dirty="0"/>
            </a:br>
            <a:r>
              <a:rPr dirty="0"/>
              <a:t>1. Pillar 1 (Conversational AI): Multi-turn chat in English &amp; Kannada.</a:t>
            </a:r>
            <a:br>
              <a:rPr dirty="0"/>
            </a:br>
            <a:r>
              <a:rPr dirty="0"/>
              <a:t>2. Pillar 2 (Network Analysis): Co-accused topology graph with degree centrality tooltips.</a:t>
            </a:r>
            <a:br>
              <a:rPr dirty="0"/>
            </a:br>
            <a:r>
              <a:rPr dirty="0"/>
              <a:t>3. Pillar 3 (Crime Trends): Station hotspot rankings and monthly crime breakdowns.</a:t>
            </a:r>
            <a:br>
              <a:rPr dirty="0"/>
            </a:br>
            <a:r>
              <a:rPr dirty="0"/>
              <a:t>4. Pillar 4 (Sociological Insights): Time-of-day, occupation, age, and income distributions.</a:t>
            </a:r>
            <a:br>
              <a:rPr dirty="0"/>
            </a:br>
            <a:r>
              <a:rPr dirty="0"/>
              <a:t>5. Pillar 5 (Offender Profiling): Transparent multi-factor risk score heuristic.</a:t>
            </a:r>
            <a:br>
              <a:rPr dirty="0"/>
            </a:br>
            <a:r>
              <a:rPr dirty="0"/>
              <a:t>6. Pillar 6 (Decision Support): Executive case summaries &amp; precedent matching.</a:t>
            </a:r>
            <a:br>
              <a:rPr dirty="0"/>
            </a:br>
            <a:r>
              <a:rPr dirty="0"/>
              <a:t>7. Pillar 7 (Financial Crime): Suspicious transaction flagging (structuring, round-trips).</a:t>
            </a:r>
            <a:br>
              <a:rPr dirty="0"/>
            </a:br>
            <a:r>
              <a:rPr dirty="0"/>
              <a:t>8. Pillar 8 (Forecasting &amp; Early Warning): OLS 3-month trend projection &amp; alert cards.</a:t>
            </a:r>
            <a:br>
              <a:rPr dirty="0"/>
            </a:br>
            <a:r>
              <a:rPr dirty="0"/>
              <a:t>9. Pillar 9 (</a:t>
            </a:r>
            <a:r>
              <a:rPr dirty="0" err="1"/>
              <a:t>Explainability</a:t>
            </a:r>
            <a:r>
              <a:rPr dirty="0"/>
              <a:t> &amp; Audit): </a:t>
            </a:r>
            <a:r>
              <a:rPr dirty="0" err="1"/>
              <a:t>Inspectable</a:t>
            </a:r>
            <a:r>
              <a:rPr dirty="0"/>
              <a:t> SQL skeleton &amp; RLS scope badges.</a:t>
            </a:r>
            <a:br>
              <a:rPr dirty="0"/>
            </a:br>
            <a:r>
              <a:rPr dirty="0"/>
              <a:t>10. Pillar 10 (Accessibility &amp; Export): Web Speech API STT/TTS &amp; printable PDF reports.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7"/>
          <p:cNvSpPr txBox="1"/>
          <p:nvPr/>
        </p:nvSpPr>
        <p:spPr>
          <a:xfrm>
            <a:off x="186001" y="51073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sz="1800" b="1" dirty="0"/>
              <a:t>Process Flow Diagram</a:t>
            </a:r>
          </a:p>
          <a:p>
            <a:r>
              <a:rPr dirty="0"/>
              <a:t/>
            </a:r>
            <a:br>
              <a:rPr dirty="0"/>
            </a:br>
            <a:endParaRPr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870" y="935664"/>
            <a:ext cx="7201786" cy="40616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8"/>
          <p:cNvSpPr txBox="1"/>
          <p:nvPr/>
        </p:nvSpPr>
        <p:spPr>
          <a:xfrm>
            <a:off x="79684" y="63581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/>
              <a:t>Wireframes/Mock diagrams of the proposed solution </a:t>
            </a:r>
            <a:endParaRPr sz="1800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t="5410" b="4236"/>
          <a:stretch/>
        </p:blipFill>
        <p:spPr>
          <a:xfrm>
            <a:off x="198120" y="1040217"/>
            <a:ext cx="8604664" cy="383658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9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9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sz="1800" b="1" dirty="0"/>
              <a:t>Architecture Diagram of </a:t>
            </a:r>
            <a:r>
              <a:rPr sz="1800" b="1" dirty="0" err="1"/>
              <a:t>Ibha</a:t>
            </a:r>
            <a:r>
              <a:rPr sz="1800" b="1" dirty="0"/>
              <a:t> </a:t>
            </a:r>
            <a:r>
              <a:rPr sz="1800" b="1" dirty="0" smtClean="0"/>
              <a:t>Solution</a:t>
            </a:r>
            <a:endParaRPr lang="en-US" sz="1800" b="1" dirty="0" smtClean="0"/>
          </a:p>
          <a:p>
            <a:endParaRPr sz="1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Client </a:t>
            </a:r>
            <a:r>
              <a:rPr dirty="0"/>
              <a:t>Layer: Next.js 14 (App Router), Tailwind CSS, </a:t>
            </a:r>
            <a:r>
              <a:rPr dirty="0" err="1"/>
              <a:t>Recharts</a:t>
            </a:r>
            <a:r>
              <a:rPr dirty="0"/>
              <a:t>, Cytoscape.js, Self-hosted Noto Sans Kannada</a:t>
            </a:r>
            <a:r>
              <a:rPr dirty="0" smtClean="0"/>
              <a:t>.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/>
              <a:t/>
            </a:r>
            <a:br>
              <a:rPr dirty="0"/>
            </a:br>
            <a:r>
              <a:rPr dirty="0" smtClean="0"/>
              <a:t>Security </a:t>
            </a:r>
            <a:r>
              <a:rPr dirty="0"/>
              <a:t>&amp; Governance Layer: JWT </a:t>
            </a:r>
            <a:r>
              <a:rPr dirty="0" err="1"/>
              <a:t>Auth</a:t>
            </a:r>
            <a:r>
              <a:rPr dirty="0"/>
              <a:t> (auth.py), Parameterized Query Builder (query_builder.py), RLS Jurisdiction Filter (auth_utils.py), Audit Logger (</a:t>
            </a:r>
            <a:r>
              <a:rPr dirty="0" err="1"/>
              <a:t>audit_logs</a:t>
            </a:r>
            <a:r>
              <a:rPr dirty="0"/>
              <a:t>).</a:t>
            </a:r>
            <a:br>
              <a:rPr dirty="0"/>
            </a:b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API </a:t>
            </a:r>
            <a:r>
              <a:rPr dirty="0"/>
              <a:t>&amp; Application Layer: Python 3.10 Flask (local_server.py) / </a:t>
            </a:r>
            <a:r>
              <a:rPr dirty="0" err="1"/>
              <a:t>Zoho</a:t>
            </a:r>
            <a:r>
              <a:rPr dirty="0"/>
              <a:t> Catalyst </a:t>
            </a:r>
            <a:r>
              <a:rPr dirty="0" err="1"/>
              <a:t>Serverless</a:t>
            </a:r>
            <a:r>
              <a:rPr dirty="0"/>
              <a:t> Functions.</a:t>
            </a:r>
            <a:br>
              <a:rPr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AI </a:t>
            </a:r>
            <a:r>
              <a:rPr dirty="0"/>
              <a:t>Core: Google Gemini 2.5 Flash API (Structured JSON tool-use intent extraction).</a:t>
            </a:r>
            <a:br>
              <a:rPr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Database </a:t>
            </a:r>
            <a:r>
              <a:rPr dirty="0"/>
              <a:t>Layer: PostgreSQL 14+ with </a:t>
            </a:r>
            <a:r>
              <a:rPr dirty="0" err="1"/>
              <a:t>pgvector</a:t>
            </a:r>
            <a:r>
              <a:rPr dirty="0"/>
              <a:t> support.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0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0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sz="1800" b="1" dirty="0"/>
              <a:t>Technologies Used in </a:t>
            </a:r>
            <a:r>
              <a:rPr sz="1800" b="1" dirty="0" smtClean="0"/>
              <a:t>Solution</a:t>
            </a:r>
            <a:endParaRPr lang="en-US" sz="1800" b="1" dirty="0" smtClean="0"/>
          </a:p>
          <a:p>
            <a:endParaRPr sz="1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Frontend</a:t>
            </a:r>
            <a:r>
              <a:rPr dirty="0"/>
              <a:t>: Next.js 14, React 18, Tailwind CSS, </a:t>
            </a:r>
            <a:r>
              <a:rPr dirty="0" err="1"/>
              <a:t>Recharts</a:t>
            </a:r>
            <a:r>
              <a:rPr dirty="0"/>
              <a:t>, Cytoscape.js, </a:t>
            </a:r>
            <a:r>
              <a:rPr dirty="0" err="1"/>
              <a:t>Lucide</a:t>
            </a:r>
            <a:r>
              <a:rPr dirty="0"/>
              <a:t> Icons.</a:t>
            </a:r>
            <a:br>
              <a:rPr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Backend</a:t>
            </a:r>
            <a:r>
              <a:rPr dirty="0"/>
              <a:t>: Python 3.10+, Flask, psycopg2-binary, </a:t>
            </a:r>
            <a:r>
              <a:rPr dirty="0" err="1"/>
              <a:t>Pydantic</a:t>
            </a:r>
            <a:r>
              <a:rPr dirty="0"/>
              <a:t> v2.</a:t>
            </a:r>
            <a:br>
              <a:rPr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AI </a:t>
            </a:r>
            <a:r>
              <a:rPr dirty="0"/>
              <a:t>Engine: Google Gemini 2.5 Flash (Structured JSON tool-use output).</a:t>
            </a:r>
            <a:br>
              <a:rPr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Security </a:t>
            </a:r>
            <a:r>
              <a:rPr dirty="0"/>
              <a:t>&amp; Audit: </a:t>
            </a:r>
            <a:r>
              <a:rPr dirty="0" err="1"/>
              <a:t>PyJWT</a:t>
            </a:r>
            <a:r>
              <a:rPr dirty="0"/>
              <a:t>, PostgreSQL RLS, Parameterized Query Builder.</a:t>
            </a:r>
            <a:br>
              <a:rPr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Database</a:t>
            </a:r>
            <a:r>
              <a:rPr dirty="0"/>
              <a:t>: PostgreSQL 14+ with </a:t>
            </a:r>
            <a:r>
              <a:rPr dirty="0" err="1"/>
              <a:t>pgvector</a:t>
            </a:r>
            <a:r>
              <a:rPr dirty="0"/>
              <a:t> extension.</a:t>
            </a:r>
            <a:br>
              <a:rPr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Accessibility</a:t>
            </a:r>
            <a:r>
              <a:rPr dirty="0"/>
              <a:t>: Web Speech API (STT/TTS), Self-hosted Noto Sans Kannada font.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21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1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sz="1800" b="1" dirty="0" err="1"/>
              <a:t>Zoho</a:t>
            </a:r>
            <a:r>
              <a:rPr sz="1800" b="1" dirty="0"/>
              <a:t> Catalyst Services Integrated</a:t>
            </a:r>
          </a:p>
          <a:p>
            <a:r>
              <a:rPr dirty="0"/>
              <a:t/>
            </a:r>
            <a:br>
              <a:rPr dirty="0"/>
            </a:br>
            <a:r>
              <a:rPr dirty="0" smtClean="0"/>
              <a:t>Catalyst </a:t>
            </a:r>
            <a:r>
              <a:rPr dirty="0" err="1"/>
              <a:t>Serverless</a:t>
            </a:r>
            <a:r>
              <a:rPr dirty="0"/>
              <a:t> Functions: Target runtime for backend handlers (health, chat, audit, insights, support, trends, network).</a:t>
            </a:r>
            <a:br>
              <a:rPr dirty="0"/>
            </a:br>
            <a:endParaRPr lang="en-US" dirty="0"/>
          </a:p>
          <a:p>
            <a:r>
              <a:rPr dirty="0" smtClean="0"/>
              <a:t>Catalyst </a:t>
            </a:r>
            <a:r>
              <a:rPr dirty="0"/>
              <a:t>API Gateway: Route mapping via </a:t>
            </a:r>
            <a:r>
              <a:rPr dirty="0" err="1"/>
              <a:t>OpenAPI</a:t>
            </a:r>
            <a:r>
              <a:rPr dirty="0"/>
              <a:t> 3.0 specification (catalyst/</a:t>
            </a:r>
            <a:r>
              <a:rPr dirty="0" err="1"/>
              <a:t>api</a:t>
            </a:r>
            <a:r>
              <a:rPr dirty="0"/>
              <a:t>/</a:t>
            </a:r>
            <a:r>
              <a:rPr dirty="0" err="1"/>
              <a:t>openapi.yaml</a:t>
            </a:r>
            <a:r>
              <a:rPr dirty="0"/>
              <a:t>).</a:t>
            </a:r>
            <a:br>
              <a:rPr dirty="0"/>
            </a:br>
            <a:endParaRPr lang="en-US" dirty="0"/>
          </a:p>
          <a:p>
            <a:r>
              <a:rPr dirty="0" smtClean="0"/>
              <a:t>Catalyst </a:t>
            </a:r>
            <a:r>
              <a:rPr dirty="0"/>
              <a:t>Web Client Hosting: Optimized deployment hosting for the Next.js frontend application.</a:t>
            </a:r>
            <a:br>
              <a:rPr dirty="0"/>
            </a:br>
            <a:endParaRPr lang="en-US" dirty="0"/>
          </a:p>
          <a:p>
            <a:r>
              <a:rPr dirty="0" smtClean="0"/>
              <a:t>Catalyst </a:t>
            </a:r>
            <a:r>
              <a:rPr dirty="0"/>
              <a:t>Data Store / Relational Bridge: Managed database adapter connecting </a:t>
            </a:r>
            <a:r>
              <a:rPr dirty="0" err="1"/>
              <a:t>serverless</a:t>
            </a:r>
            <a:r>
              <a:rPr dirty="0"/>
              <a:t> functions to PostgreSQL.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3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3"/>
          <p:cNvSpPr txBox="1"/>
          <p:nvPr/>
        </p:nvSpPr>
        <p:spPr>
          <a:xfrm>
            <a:off x="136080" y="6266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/>
              <a:t>Snapshots of the prototype</a:t>
            </a:r>
            <a:endParaRPr sz="18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099" y="3098115"/>
            <a:ext cx="1584925" cy="150909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9956" y="696499"/>
            <a:ext cx="3385698" cy="196814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1731" y="2963092"/>
            <a:ext cx="3015110" cy="177913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2548" y="2836389"/>
            <a:ext cx="2983414" cy="190584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799" y="1140287"/>
            <a:ext cx="3104334" cy="1781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4"/>
          <p:cNvSpPr txBox="1"/>
          <p:nvPr/>
        </p:nvSpPr>
        <p:spPr>
          <a:xfrm>
            <a:off x="158825" y="806350"/>
            <a:ext cx="8796600" cy="48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sz="1800" b="1" dirty="0"/>
              <a:t>Prototype Performance &amp; Benchmarking </a:t>
            </a:r>
            <a:r>
              <a:rPr sz="1800" b="1" dirty="0" smtClean="0"/>
              <a:t>Report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End-to-End </a:t>
            </a:r>
            <a:r>
              <a:rPr dirty="0"/>
              <a:t>Chat Latency: ~700ms average (Intent extraction + SQL + NL answer synthesis</a:t>
            </a:r>
            <a:r>
              <a:rPr dirty="0" smtClean="0"/>
              <a:t>).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Database </a:t>
            </a:r>
            <a:r>
              <a:rPr dirty="0"/>
              <a:t>Execution Time: &lt;35ms for parameterized PostgreSQL queries.</a:t>
            </a:r>
            <a:br>
              <a:rPr dirty="0"/>
            </a:b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Security </a:t>
            </a:r>
            <a:r>
              <a:rPr dirty="0"/>
              <a:t>Compliance: 100% RLS enforcement — zero cross-station data leakage verified in automated tests.</a:t>
            </a:r>
            <a:br>
              <a:rPr dirty="0"/>
            </a:b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smtClean="0"/>
              <a:t>Quota </a:t>
            </a:r>
            <a:r>
              <a:rPr dirty="0"/>
              <a:t>&amp; Fallback Reliability: 2-second client </a:t>
            </a:r>
            <a:r>
              <a:rPr dirty="0" err="1"/>
              <a:t>debounce</a:t>
            </a:r>
            <a:r>
              <a:rPr dirty="0"/>
              <a:t> + automatic fallback to keyword NLP (</a:t>
            </a:r>
            <a:r>
              <a:rPr dirty="0" err="1"/>
              <a:t>nlp_simple</a:t>
            </a:r>
            <a:r>
              <a:rPr dirty="0"/>
              <a:t>) on API timeout.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5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sz="1800" b="1" dirty="0"/>
              <a:t>Submission Links</a:t>
            </a:r>
          </a:p>
          <a:p>
            <a:r>
              <a:rPr dirty="0"/>
              <a:t/>
            </a:r>
            <a:br>
              <a:rPr dirty="0"/>
            </a:br>
            <a:r>
              <a:rPr dirty="0"/>
              <a:t>• GitHub Public </a:t>
            </a:r>
            <a:r>
              <a:rPr dirty="0" smtClean="0"/>
              <a:t>Repository:</a:t>
            </a:r>
            <a:r>
              <a:rPr lang="en-US" dirty="0" smtClean="0"/>
              <a:t>  </a:t>
            </a:r>
            <a:r>
              <a:rPr lang="en-IN" dirty="0" smtClean="0">
                <a:hlinkClick r:id="rId4"/>
              </a:rPr>
              <a:t>https</a:t>
            </a:r>
            <a:r>
              <a:rPr lang="en-IN" dirty="0">
                <a:hlinkClick r:id="rId4"/>
              </a:rPr>
              <a:t>://</a:t>
            </a:r>
            <a:r>
              <a:rPr lang="en-IN" dirty="0" smtClean="0">
                <a:hlinkClick r:id="rId4"/>
              </a:rPr>
              <a:t>github.com/Bhakti-e/ibha-ksp.git</a:t>
            </a:r>
            <a:endParaRPr lang="en-IN" dirty="0" smtClean="0"/>
          </a:p>
          <a:p>
            <a:r>
              <a:rPr dirty="0" smtClean="0"/>
              <a:t> </a:t>
            </a:r>
            <a:r>
              <a:rPr dirty="0"/>
              <a:t/>
            </a:r>
            <a:br>
              <a:rPr dirty="0"/>
            </a:br>
            <a:r>
              <a:rPr dirty="0"/>
              <a:t>• Deployed Application Link: </a:t>
            </a:r>
            <a:r>
              <a:rPr lang="en-US" dirty="0" smtClean="0"/>
              <a:t> </a:t>
            </a:r>
            <a:r>
              <a:rPr lang="en-IN" dirty="0" smtClean="0">
                <a:hlinkClick r:id="rId5"/>
              </a:rPr>
              <a:t>https</a:t>
            </a:r>
            <a:r>
              <a:rPr lang="en-IN" dirty="0">
                <a:hlinkClick r:id="rId5"/>
              </a:rPr>
              <a:t>://</a:t>
            </a:r>
            <a:r>
              <a:rPr lang="en-IN" dirty="0" smtClean="0">
                <a:hlinkClick r:id="rId5"/>
              </a:rPr>
              <a:t>ibha-ksp-czmdpiah.onslate.in</a:t>
            </a:r>
            <a:endParaRPr lang="en-IN" dirty="0" smtClean="0"/>
          </a:p>
          <a:p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8" title="Framwdwdwde 1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193</Words>
  <Application>Microsoft Office PowerPoint</Application>
  <PresentationFormat>On-screen Show (16:9)</PresentationFormat>
  <Paragraphs>53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Bhakti Parulekar</dc:creator>
  <cp:lastModifiedBy>Bhakti Parulekar</cp:lastModifiedBy>
  <cp:revision>15</cp:revision>
  <dcterms:modified xsi:type="dcterms:W3CDTF">2026-07-26T17:07:30Z</dcterms:modified>
</cp:coreProperties>
</file>